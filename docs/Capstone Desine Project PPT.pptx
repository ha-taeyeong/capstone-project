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81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5DEF4-DF46-4865-BCE6-D20E1BB1C05B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21365-F817-4C6E-8ACE-1B768A81F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1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81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F5780-4696-6638-F32D-7793AE7D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C7AAFF-2E9C-C180-C969-21CA2F5A1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56DF1B-62E8-F546-D612-315CCE12D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4E5DE9-CB55-2CA5-5F91-CEB6ADEBD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858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B799-55C8-65C4-A88D-FC9FC6F4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4966D7-5298-9DD9-BC75-9687F138C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DFB5E2-59EA-3FF5-774F-5BB708E90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169E1-7ADA-EC9F-0567-DA2B9DD64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15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E54D-6F0D-FE8D-0E3C-DE8E7866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FB343F-B847-86A7-7603-01FBE72B0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9F0EE-2DE1-3201-5924-D12C0B231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DF8AA7-5F6F-B81B-2785-736A25CAB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23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0E59F-D0DD-CC92-AEE7-E5FB9F95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2FC5FE-9E37-F7D7-760E-77CF49FC8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AD8596-2CB7-ACB2-A891-30A08B4B8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CAE3EB-CE2F-40E4-B596-28DB37480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197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20127-FE2B-DF68-B8D4-825CEA0C9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3AE54A-ADEC-7A89-D92C-7AA7422FD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2804E2-C82B-5268-100A-CB6716FB9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7551F2-FE56-5C9E-244D-B0DFBB469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145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3ECB-C69D-9D9D-CAE2-89A5D120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04FA66-58F8-599F-4F1B-74858396D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7A8846-62C0-E0C8-67F0-B4224BB51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5751CB-DBF2-46FD-F42C-2669CEB6F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F21365-F817-4C6E-8ACE-1B768A81FC5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476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F682F-5A6C-60BD-4B87-CCCA7BF23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1912B9-D2A7-6EBA-7FBE-DE15838633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5A8A65-AAB1-1C87-69F1-C195D22BD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BBA6F4-ED9B-253F-FD62-26EA8F1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C21E94-B625-CF05-F4AA-AB210510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59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086F6-3750-1FAE-FF4E-3E016C6A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A5EB9B-6FEF-EBE5-4F6C-556245B6C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14C2-FB98-A8F5-B89E-2B0D3BDF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12C1B-5530-E2CE-DB63-34ACF2839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86BD8-6056-06A5-7EC8-FBC6B40E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96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6251C-C78B-EAEA-2E78-907FDC2D5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2221FB-B587-8C5A-2E9E-3E1192C4C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BF3F4-577E-9C71-D824-84535546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6AC46A-075B-58A6-63C4-779F35C0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347F60-2D9D-03C0-95FC-F2C041A5E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5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F6250-8EA0-E4C0-3541-FEA050E3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F034C-12EA-5A37-E572-00EDE4445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4DE02B-AEAF-44C3-9919-A54F46D5E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012540-054B-A5A3-67AF-780D8FF2C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A52863-8DB6-44F6-4E5A-2D086AEF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BA4873-65F6-E604-D70B-7428ACB0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397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A2147-43EA-ECC2-855D-E558AEE3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55F967-8F4D-4EE3-0FA5-3AE456396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DB6539-BFED-B501-414F-EF6E81DC9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43BFA6-A38A-4BAC-88AD-5C200BC12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C9FAFC-DDB1-29FE-19F0-3A5C02BE7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DA430D-E37B-6E3C-C12F-84B05C62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ACEEA10-7E3D-C91C-C979-3F6C397E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F9D92A-129B-89CC-4D4A-544D7674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16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6470F-0996-4E9A-FE6B-1B45ED79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DA3AD0-F2EA-F533-0C65-D2E12EE3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EA0D1B-3B12-76B0-BBA4-3BCF8B2CA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993FF9-3D4E-547C-237C-3962FD284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190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735AD6-A26F-1C29-8C18-6A0F63847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16E99D-98A1-6A38-3E48-95E55BCD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561E7-20DC-BBD3-DB8A-98CCC9EA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81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61EC9-A5C9-C464-102B-3CC3D043B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F3D1A-A208-E292-C47A-8778142AF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EF7E35D-0B97-E85B-4D58-CB506DF6D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4C8723-5F46-D11D-A61C-299691594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F51EC0-4358-6170-FDB9-9D7918FA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28B7CB-CF93-5C8F-91A7-52540A41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893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8EED69-A82D-6234-7389-0CFD28DE2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4E21DB7-BB0B-A915-3046-B5CF58D49F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29F088-2B9D-345E-54D9-526ABCAE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CC25A7-D833-901C-F80D-086F874B7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75345-F89E-29F8-3A8E-18728DFD4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01EBB2-8BC6-0C01-C690-45EEDCC4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67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760C8-E371-56D1-1EDD-0B714282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18C663-FD23-E85F-09EA-11C24F96E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F6C1C8-0B67-3562-F859-52D3D6F1C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293A9-983B-D8EF-F1A0-72B91614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144CC9-3B85-A6CE-B6CD-07DF3E05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1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E7AB43-8C5D-D8EE-0D9A-BB34E8BD7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9E87E9-9D03-A806-E79C-BD8DF0675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9D6BDE-7801-1BAA-A37C-4254FF1D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9F1893-C291-C5BE-A210-220C87D6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DA70AD-4B61-DF4C-9DC8-337EC093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3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121767-F4B0-7A2B-748D-98F35898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4526E4-447F-8D80-597D-FF5A13E7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8E3E0-B473-9643-8C77-41D1DC538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EC436-F2DD-4241-AC6C-F24131B4F134}" type="datetimeFigureOut">
              <a:rPr lang="ko-KR" altLang="en-US" smtClean="0"/>
              <a:t>2026-01-16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F87D8-C86C-530D-6C19-2793C14E8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32917-6FFD-6D9C-0998-355589206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8B64D-E8B0-4320-90CF-894C6C016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67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2A144-F67A-6E40-9283-3EF7341DF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b="1" dirty="0">
                <a:solidFill>
                  <a:srgbClr val="00FFFF"/>
                </a:solidFill>
              </a:rPr>
              <a:t>US Stock Market</a:t>
            </a:r>
            <a:br>
              <a:rPr lang="en-US" altLang="ko-KR" b="1" dirty="0">
                <a:solidFill>
                  <a:srgbClr val="00FFFF"/>
                </a:solidFill>
              </a:rPr>
            </a:br>
            <a:r>
              <a:rPr lang="en-US" altLang="ko-KR" b="1" dirty="0">
                <a:solidFill>
                  <a:srgbClr val="00FFFF"/>
                </a:solidFill>
              </a:rPr>
              <a:t>Time Machine</a:t>
            </a:r>
            <a:br>
              <a:rPr lang="en-US" altLang="ko-KR" b="1" dirty="0">
                <a:solidFill>
                  <a:srgbClr val="00FFFF"/>
                </a:solidFill>
              </a:rPr>
            </a:br>
            <a:endParaRPr lang="ko-KR" altLang="en-US" dirty="0">
              <a:solidFill>
                <a:srgbClr val="00FFFF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1647B9-CB9F-A7A8-36B0-3A17CA583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23164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>
                <a:solidFill>
                  <a:schemeClr val="bg1">
                    <a:lumMod val="75000"/>
                  </a:schemeClr>
                </a:solidFill>
              </a:rPr>
              <a:t>주식 입문자를 위한 과거 데이터 기반</a:t>
            </a:r>
            <a:br>
              <a:rPr lang="ko-KR" altLang="en-US" sz="17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ko-KR" altLang="en-US" sz="1700" dirty="0">
                <a:solidFill>
                  <a:schemeClr val="bg1">
                    <a:lumMod val="75000"/>
                  </a:schemeClr>
                </a:solidFill>
              </a:rPr>
              <a:t>모의 투자 및 리스크 관리 교육 플랫폼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5861F89-EF99-CB60-D670-DFF2654BC52A}"/>
              </a:ext>
            </a:extLst>
          </p:cNvPr>
          <p:cNvSpPr/>
          <p:nvPr/>
        </p:nvSpPr>
        <p:spPr>
          <a:xfrm>
            <a:off x="4147456" y="4135606"/>
            <a:ext cx="3651069" cy="543320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rgbClr val="00FFFF"/>
                </a:solidFill>
              </a:rPr>
              <a:t>입문자의 </a:t>
            </a:r>
            <a:r>
              <a:rPr lang="en-US" altLang="ko-KR" sz="1200" b="1" dirty="0">
                <a:solidFill>
                  <a:srgbClr val="00FFFF"/>
                </a:solidFill>
              </a:rPr>
              <a:t>‘</a:t>
            </a:r>
            <a:r>
              <a:rPr lang="ko-KR" altLang="en-US" sz="1200" b="1" dirty="0">
                <a:solidFill>
                  <a:srgbClr val="00FFFF"/>
                </a:solidFill>
              </a:rPr>
              <a:t>투자 근력</a:t>
            </a:r>
            <a:r>
              <a:rPr lang="en-US" altLang="ko-KR" sz="1200" b="1" dirty="0">
                <a:solidFill>
                  <a:srgbClr val="00FFFF"/>
                </a:solidFill>
              </a:rPr>
              <a:t>’</a:t>
            </a:r>
            <a:r>
              <a:rPr lang="ko-KR" altLang="en-US" sz="1200" b="1" dirty="0">
                <a:solidFill>
                  <a:srgbClr val="00FFFF"/>
                </a:solidFill>
              </a:rPr>
              <a:t>을 키우는 가상 시뮬레이션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8DF3A9-F41D-F4F6-AA34-3196885D6D1F}"/>
              </a:ext>
            </a:extLst>
          </p:cNvPr>
          <p:cNvSpPr txBox="1"/>
          <p:nvPr/>
        </p:nvSpPr>
        <p:spPr>
          <a:xfrm>
            <a:off x="3761284" y="891977"/>
            <a:ext cx="457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</a:rPr>
              <a:t>CAPSTONE DESIGN PROJECT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56038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80A55E-889F-5B65-C96F-DBD0F7DE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ABD8285-FE01-8231-E107-A933FF5D1948}"/>
              </a:ext>
            </a:extLst>
          </p:cNvPr>
          <p:cNvSpPr/>
          <p:nvPr/>
        </p:nvSpPr>
        <p:spPr>
          <a:xfrm>
            <a:off x="568608" y="3429000"/>
            <a:ext cx="5250184" cy="179614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3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BA3A6CD-7A6C-C4E4-BCD1-697DBB49C56E}"/>
              </a:ext>
            </a:extLst>
          </p:cNvPr>
          <p:cNvSpPr txBox="1">
            <a:spLocks/>
          </p:cNvSpPr>
          <p:nvPr/>
        </p:nvSpPr>
        <p:spPr>
          <a:xfrm>
            <a:off x="676925" y="809423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왜 입문자에게 주식은 어려울까요</a:t>
            </a:r>
            <a:r>
              <a:rPr lang="en-US" altLang="ko-KR" sz="3500" b="1" dirty="0">
                <a:solidFill>
                  <a:schemeClr val="bg1"/>
                </a:solidFill>
              </a:rPr>
              <a:t>?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1B26A6-16D4-5010-4A5C-82045A17AC32}"/>
              </a:ext>
            </a:extLst>
          </p:cNvPr>
          <p:cNvSpPr/>
          <p:nvPr/>
        </p:nvSpPr>
        <p:spPr>
          <a:xfrm flipH="1">
            <a:off x="511459" y="809423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DB89875-16C9-2787-5498-2219CBA7DC5F}"/>
              </a:ext>
            </a:extLst>
          </p:cNvPr>
          <p:cNvSpPr/>
          <p:nvPr/>
        </p:nvSpPr>
        <p:spPr>
          <a:xfrm>
            <a:off x="557178" y="3346407"/>
            <a:ext cx="5273045" cy="179614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dirty="0">
                <a:solidFill>
                  <a:srgbClr val="00FFFF"/>
                </a:solidFill>
              </a:rPr>
              <a:t>     정보의 비대칭과 두려움</a:t>
            </a:r>
            <a:endParaRPr lang="en-US" altLang="ko-KR" sz="1300" b="1" dirty="0">
              <a:solidFill>
                <a:srgbClr val="00FFFF"/>
              </a:solidFill>
            </a:endParaRPr>
          </a:p>
          <a:p>
            <a:endParaRPr lang="en-US" altLang="ko-KR" sz="1300" b="1" dirty="0"/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차트와 전문 용어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(MDD,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샤프지수 등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의 장벽이 높고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실제 자산을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잃을지도 모른다는 공포가 학습을 방해합니다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4" name="그래픽 13" descr="크게 우는 얼굴(윤곽선) 단색으로 채워진">
            <a:extLst>
              <a:ext uri="{FF2B5EF4-FFF2-40B4-BE49-F238E27FC236}">
                <a16:creationId xmlns:a16="http://schemas.microsoft.com/office/drawing/2014/main" id="{7E855304-BF22-834C-E216-73DA76A2E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769" y="3840615"/>
            <a:ext cx="234044" cy="23404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6C7CC2F-1AAE-B5D6-3B22-8A7F7E776F8B}"/>
              </a:ext>
            </a:extLst>
          </p:cNvPr>
          <p:cNvSpPr/>
          <p:nvPr/>
        </p:nvSpPr>
        <p:spPr>
          <a:xfrm>
            <a:off x="6266191" y="3429000"/>
            <a:ext cx="5250184" cy="179614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3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8308996-9E96-4DC6-F374-B0BF9956740F}"/>
              </a:ext>
            </a:extLst>
          </p:cNvPr>
          <p:cNvSpPr/>
          <p:nvPr/>
        </p:nvSpPr>
        <p:spPr>
          <a:xfrm>
            <a:off x="6254761" y="3346407"/>
            <a:ext cx="5273045" cy="179614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dirty="0">
                <a:solidFill>
                  <a:srgbClr val="00FFFF"/>
                </a:solidFill>
              </a:rPr>
              <a:t>     경험의 부재</a:t>
            </a:r>
            <a:endParaRPr lang="en-US" altLang="ko-KR" sz="1300" b="1" dirty="0">
              <a:solidFill>
                <a:srgbClr val="00FFFF"/>
              </a:solidFill>
            </a:endParaRPr>
          </a:p>
          <a:p>
            <a:endParaRPr lang="en-US" altLang="ko-KR" sz="1300" b="1" dirty="0"/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단순 이론 학습만으로는 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‘</a:t>
            </a:r>
            <a:r>
              <a:rPr lang="ko-KR" altLang="en-US" sz="1200" b="1" dirty="0" err="1">
                <a:solidFill>
                  <a:schemeClr val="bg1">
                    <a:lumMod val="85000"/>
                  </a:schemeClr>
                </a:solidFill>
              </a:rPr>
              <a:t>폭락장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＇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의 공포나 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‘</a:t>
            </a:r>
            <a:r>
              <a:rPr lang="ko-KR" altLang="en-US" sz="1200" b="1" dirty="0" err="1">
                <a:solidFill>
                  <a:schemeClr val="bg1">
                    <a:lumMod val="85000"/>
                  </a:schemeClr>
                </a:solidFill>
              </a:rPr>
              <a:t>급등장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＇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의 유혹을 관리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하는 실제적인 리스크 관리 능력을 배울 수 없습니다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2" name="그래픽 21" descr="시계 단색으로 채워진">
            <a:extLst>
              <a:ext uri="{FF2B5EF4-FFF2-40B4-BE49-F238E27FC236}">
                <a16:creationId xmlns:a16="http://schemas.microsoft.com/office/drawing/2014/main" id="{7C593944-32CF-FB32-6854-1847AE63F2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6412" y="3825645"/>
            <a:ext cx="281672" cy="28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3850C-FBE8-55EF-C4CB-BDA95036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9D688CE1-8626-3DDD-D908-F0D98DDCDBE1}"/>
              </a:ext>
            </a:extLst>
          </p:cNvPr>
          <p:cNvSpPr txBox="1">
            <a:spLocks/>
          </p:cNvSpPr>
          <p:nvPr/>
        </p:nvSpPr>
        <p:spPr>
          <a:xfrm>
            <a:off x="648542" y="824424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과거로 돌아가는 투자 타임머신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367409-E8A3-95F8-055F-E97B29EEBBB4}"/>
              </a:ext>
            </a:extLst>
          </p:cNvPr>
          <p:cNvSpPr/>
          <p:nvPr/>
        </p:nvSpPr>
        <p:spPr>
          <a:xfrm flipH="1">
            <a:off x="489608" y="824424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887BAC-6911-8C49-7EA1-CF1F9AA5E075}"/>
              </a:ext>
            </a:extLst>
          </p:cNvPr>
          <p:cNvSpPr txBox="1"/>
          <p:nvPr/>
        </p:nvSpPr>
        <p:spPr>
          <a:xfrm>
            <a:off x="460609" y="2978331"/>
            <a:ext cx="66228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“</a:t>
            </a:r>
            <a:r>
              <a:rPr lang="ko-KR" altLang="en-US" sz="1500" b="1" dirty="0">
                <a:solidFill>
                  <a:schemeClr val="bg1"/>
                </a:solidFill>
              </a:rPr>
              <a:t>과거의 실수가 미래의 자산이 됩니다</a:t>
            </a:r>
            <a:r>
              <a:rPr lang="en-US" altLang="ko-KR" sz="1500" b="1" dirty="0">
                <a:solidFill>
                  <a:schemeClr val="bg1"/>
                </a:solidFill>
              </a:rPr>
              <a:t>.”</a:t>
            </a:r>
          </a:p>
          <a:p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500" b="1" dirty="0">
                <a:solidFill>
                  <a:schemeClr val="bg1"/>
                </a:solidFill>
              </a:rPr>
              <a:t>    </a:t>
            </a:r>
            <a:r>
              <a:rPr lang="ko-KR" altLang="en-US" sz="1500" b="1" dirty="0">
                <a:solidFill>
                  <a:schemeClr val="bg1"/>
                </a:solidFill>
              </a:rPr>
              <a:t>특정 시점 회귀</a:t>
            </a:r>
            <a:r>
              <a:rPr lang="en-US" altLang="ko-KR" sz="1500" b="1" dirty="0">
                <a:solidFill>
                  <a:schemeClr val="bg1"/>
                </a:solidFill>
              </a:rPr>
              <a:t>: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2008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년 금융위기 전날로 돌아가 가상 자산으로 투자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   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시작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500" b="1" dirty="0">
                <a:solidFill>
                  <a:schemeClr val="bg1"/>
                </a:solidFill>
              </a:rPr>
              <a:t>    </a:t>
            </a:r>
            <a:r>
              <a:rPr lang="ko-KR" altLang="en-US" sz="1500" b="1" dirty="0">
                <a:solidFill>
                  <a:schemeClr val="bg1"/>
                </a:solidFill>
              </a:rPr>
              <a:t>시나리오 체험</a:t>
            </a:r>
            <a:r>
              <a:rPr lang="en-US" altLang="ko-KR" sz="1500" b="1" dirty="0">
                <a:solidFill>
                  <a:schemeClr val="bg1"/>
                </a:solidFill>
              </a:rPr>
              <a:t>: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역사적 사건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코로나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19, </a:t>
            </a:r>
            <a:r>
              <a:rPr lang="ko-KR" altLang="en-US" sz="1500" dirty="0" err="1">
                <a:solidFill>
                  <a:schemeClr val="bg1">
                    <a:lumMod val="85000"/>
                  </a:schemeClr>
                </a:solidFill>
              </a:rPr>
              <a:t>닷컴버블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 등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을 직접 몸으로 </a:t>
            </a:r>
            <a:r>
              <a:rPr lang="ko-KR" altLang="en-US" sz="1500" dirty="0" err="1">
                <a:solidFill>
                  <a:schemeClr val="bg1">
                    <a:lumMod val="85000"/>
                  </a:schemeClr>
                </a:solidFill>
              </a:rPr>
              <a:t>겪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   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는 시뮬레이션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500" dirty="0">
              <a:solidFill>
                <a:schemeClr val="bg1"/>
              </a:solidFill>
            </a:endParaRPr>
          </a:p>
          <a:p>
            <a:r>
              <a:rPr lang="en-US" altLang="ko-KR" sz="1500" b="1" dirty="0">
                <a:solidFill>
                  <a:schemeClr val="bg1"/>
                </a:solidFill>
              </a:rPr>
              <a:t>    </a:t>
            </a:r>
            <a:r>
              <a:rPr lang="ko-KR" altLang="en-US" sz="1500" b="1" dirty="0">
                <a:solidFill>
                  <a:schemeClr val="bg1"/>
                </a:solidFill>
              </a:rPr>
              <a:t>가상 자산 활용</a:t>
            </a:r>
            <a:r>
              <a:rPr lang="en-US" altLang="ko-KR" sz="1500" b="1" dirty="0">
                <a:solidFill>
                  <a:schemeClr val="bg1"/>
                </a:solidFill>
              </a:rPr>
              <a:t>: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손실에 대한 부담 없이 공격적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방어적 전략을 자유롭게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  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 테스트</a:t>
            </a:r>
          </a:p>
        </p:txBody>
      </p:sp>
      <p:pic>
        <p:nvPicPr>
          <p:cNvPr id="13" name="그래픽 12" descr="새로 고침 단색으로 채워진">
            <a:extLst>
              <a:ext uri="{FF2B5EF4-FFF2-40B4-BE49-F238E27FC236}">
                <a16:creationId xmlns:a16="http://schemas.microsoft.com/office/drawing/2014/main" id="{B093FE95-FDC9-E1E5-3064-E1EF4BAC4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328" y="3487783"/>
            <a:ext cx="241663" cy="241663"/>
          </a:xfrm>
          <a:prstGeom prst="rect">
            <a:avLst/>
          </a:prstGeom>
        </p:spPr>
      </p:pic>
      <p:pic>
        <p:nvPicPr>
          <p:cNvPr id="19" name="그래픽 18" descr="점안기 단색으로 채워진">
            <a:extLst>
              <a:ext uri="{FF2B5EF4-FFF2-40B4-BE49-F238E27FC236}">
                <a16:creationId xmlns:a16="http://schemas.microsoft.com/office/drawing/2014/main" id="{09F73DA4-C4AF-96FE-104F-68DC65570A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242" y="4151813"/>
            <a:ext cx="241663" cy="241663"/>
          </a:xfrm>
          <a:prstGeom prst="rect">
            <a:avLst/>
          </a:prstGeom>
        </p:spPr>
      </p:pic>
      <p:pic>
        <p:nvPicPr>
          <p:cNvPr id="21" name="그래픽 20" descr="동전 단색으로 채워진">
            <a:extLst>
              <a:ext uri="{FF2B5EF4-FFF2-40B4-BE49-F238E27FC236}">
                <a16:creationId xmlns:a16="http://schemas.microsoft.com/office/drawing/2014/main" id="{095835D7-65C5-4436-096A-AF481993E5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242" y="4826727"/>
            <a:ext cx="241663" cy="241663"/>
          </a:xfrm>
          <a:prstGeom prst="rect">
            <a:avLst/>
          </a:prstGeom>
        </p:spPr>
      </p:pic>
      <p:pic>
        <p:nvPicPr>
          <p:cNvPr id="26" name="그림 25" descr="스크린샷, 텍스트, 멀티미디어, 디스플레이 장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5A74B5-F1CC-ED73-2978-97B837B4A8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844" y="2383257"/>
            <a:ext cx="4676344" cy="338950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225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51071-B402-0385-9F23-B4868052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4EC41AB2-B529-6C57-F105-FB622D388B67}"/>
              </a:ext>
            </a:extLst>
          </p:cNvPr>
          <p:cNvSpPr txBox="1">
            <a:spLocks/>
          </p:cNvSpPr>
          <p:nvPr/>
        </p:nvSpPr>
        <p:spPr>
          <a:xfrm>
            <a:off x="648542" y="824424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시나리오 기반 투자 프로세스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B85C7B-0B6A-AB2D-47E5-A528D90CFB18}"/>
              </a:ext>
            </a:extLst>
          </p:cNvPr>
          <p:cNvSpPr/>
          <p:nvPr/>
        </p:nvSpPr>
        <p:spPr>
          <a:xfrm flipH="1">
            <a:off x="489608" y="824424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B3841A4-E656-C14C-D909-EDC564BB94A3}"/>
              </a:ext>
            </a:extLst>
          </p:cNvPr>
          <p:cNvSpPr/>
          <p:nvPr/>
        </p:nvSpPr>
        <p:spPr>
          <a:xfrm>
            <a:off x="3406821" y="3429000"/>
            <a:ext cx="2406837" cy="16854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FFFF"/>
                </a:solidFill>
              </a:rPr>
              <a:t>02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정보 주입</a:t>
            </a:r>
            <a:endParaRPr lang="en-US" altLang="ko-KR" sz="1500" b="1" dirty="0"/>
          </a:p>
          <a:p>
            <a:pPr algn="ctr"/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당시 뉴스 헤드라인과 차트 데이터 제공</a:t>
            </a:r>
          </a:p>
        </p:txBody>
      </p:sp>
      <p:sp>
        <p:nvSpPr>
          <p:cNvPr id="6" name="화살표: 왼쪽 5">
            <a:extLst>
              <a:ext uri="{FF2B5EF4-FFF2-40B4-BE49-F238E27FC236}">
                <a16:creationId xmlns:a16="http://schemas.microsoft.com/office/drawing/2014/main" id="{95A86392-C2AB-870B-924B-CBA5B4D49B1A}"/>
              </a:ext>
            </a:extLst>
          </p:cNvPr>
          <p:cNvSpPr/>
          <p:nvPr/>
        </p:nvSpPr>
        <p:spPr>
          <a:xfrm rot="10800000">
            <a:off x="2958729" y="4114799"/>
            <a:ext cx="315522" cy="313899"/>
          </a:xfrm>
          <a:prstGeom prst="leftArrow">
            <a:avLst>
              <a:gd name="adj1" fmla="val 30822"/>
              <a:gd name="adj2" fmla="val 44521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화살표: 왼쪽 34">
            <a:extLst>
              <a:ext uri="{FF2B5EF4-FFF2-40B4-BE49-F238E27FC236}">
                <a16:creationId xmlns:a16="http://schemas.microsoft.com/office/drawing/2014/main" id="{5953460E-8926-6145-243D-3147F22AF9A4}"/>
              </a:ext>
            </a:extLst>
          </p:cNvPr>
          <p:cNvSpPr/>
          <p:nvPr/>
        </p:nvSpPr>
        <p:spPr>
          <a:xfrm rot="10800000">
            <a:off x="5942030" y="4067031"/>
            <a:ext cx="315522" cy="313899"/>
          </a:xfrm>
          <a:prstGeom prst="leftArrow">
            <a:avLst>
              <a:gd name="adj1" fmla="val 30822"/>
              <a:gd name="adj2" fmla="val 44521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화살표: 왼쪽 36">
            <a:extLst>
              <a:ext uri="{FF2B5EF4-FFF2-40B4-BE49-F238E27FC236}">
                <a16:creationId xmlns:a16="http://schemas.microsoft.com/office/drawing/2014/main" id="{1085A619-03A3-AE58-7DAF-459A5B2B15A4}"/>
              </a:ext>
            </a:extLst>
          </p:cNvPr>
          <p:cNvSpPr/>
          <p:nvPr/>
        </p:nvSpPr>
        <p:spPr>
          <a:xfrm rot="10800000">
            <a:off x="8921131" y="4079540"/>
            <a:ext cx="315522" cy="313899"/>
          </a:xfrm>
          <a:prstGeom prst="leftArrow">
            <a:avLst>
              <a:gd name="adj1" fmla="val 30822"/>
              <a:gd name="adj2" fmla="val 44521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8197B39-8BE8-4BD6-B8BF-243F8274BE85}"/>
              </a:ext>
            </a:extLst>
          </p:cNvPr>
          <p:cNvSpPr/>
          <p:nvPr/>
        </p:nvSpPr>
        <p:spPr>
          <a:xfrm>
            <a:off x="419321" y="3429000"/>
            <a:ext cx="2406837" cy="16854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FFFF"/>
                </a:solidFill>
              </a:rPr>
              <a:t>01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시점 선택</a:t>
            </a:r>
            <a:endParaRPr lang="en-US" altLang="ko-KR" sz="1500" b="1" dirty="0"/>
          </a:p>
          <a:p>
            <a:pPr algn="ctr"/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리먼 사태</a:t>
            </a:r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팬데믹 등 역사적 변곡점 선택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08224AA-DCAA-5EEE-043E-ECED5A9B4668}"/>
              </a:ext>
            </a:extLst>
          </p:cNvPr>
          <p:cNvSpPr/>
          <p:nvPr/>
        </p:nvSpPr>
        <p:spPr>
          <a:xfrm>
            <a:off x="6385923" y="3429000"/>
            <a:ext cx="2406837" cy="16854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FFFF"/>
                </a:solidFill>
              </a:rPr>
              <a:t>03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투자 결정</a:t>
            </a:r>
            <a:endParaRPr lang="en-US" altLang="ko-KR" sz="1500" b="1" dirty="0"/>
          </a:p>
          <a:p>
            <a:pPr algn="ctr"/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가상 자산으로 매수</a:t>
            </a:r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매도 전략 수행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283C1E3-9A2E-0B47-0F7D-ED9BC5C07CB7}"/>
              </a:ext>
            </a:extLst>
          </p:cNvPr>
          <p:cNvSpPr/>
          <p:nvPr/>
        </p:nvSpPr>
        <p:spPr>
          <a:xfrm>
            <a:off x="9365024" y="3429000"/>
            <a:ext cx="2406837" cy="1685498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rgbClr val="00FFFF"/>
                </a:solidFill>
              </a:rPr>
              <a:t>04</a:t>
            </a: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>
                <a:solidFill>
                  <a:schemeClr val="bg1">
                    <a:lumMod val="85000"/>
                  </a:schemeClr>
                </a:solidFill>
              </a:rPr>
              <a:t>결과 분석</a:t>
            </a:r>
            <a:endParaRPr lang="en-US" altLang="ko-KR" sz="1500" b="1" dirty="0">
              <a:solidFill>
                <a:schemeClr val="bg1">
                  <a:lumMod val="85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85000"/>
                  </a:schemeClr>
                </a:solidFill>
              </a:rPr>
              <a:t>AI</a:t>
            </a:r>
            <a:r>
              <a:rPr lang="ko-KR" altLang="en-US" sz="1000" dirty="0">
                <a:solidFill>
                  <a:schemeClr val="bg1">
                    <a:lumMod val="85000"/>
                  </a:schemeClr>
                </a:solidFill>
              </a:rPr>
              <a:t>가 분석한 나의 투자 복기 리포트</a:t>
            </a:r>
          </a:p>
        </p:txBody>
      </p:sp>
    </p:spTree>
    <p:extLst>
      <p:ext uri="{BB962C8B-B14F-4D97-AF65-F5344CB8AC3E}">
        <p14:creationId xmlns:p14="http://schemas.microsoft.com/office/powerpoint/2010/main" val="368249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76F3A-2D97-81B7-5B78-37A4BF02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03F88071-9753-8557-35F1-2D7B4ED9A4AD}"/>
              </a:ext>
            </a:extLst>
          </p:cNvPr>
          <p:cNvSpPr txBox="1">
            <a:spLocks/>
          </p:cNvSpPr>
          <p:nvPr/>
        </p:nvSpPr>
        <p:spPr>
          <a:xfrm>
            <a:off x="648542" y="824424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입문자를 위한 전용 정보 가이드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0AF391-F8C3-2550-3507-A4BF5A1340FD}"/>
              </a:ext>
            </a:extLst>
          </p:cNvPr>
          <p:cNvSpPr/>
          <p:nvPr/>
        </p:nvSpPr>
        <p:spPr>
          <a:xfrm flipH="1">
            <a:off x="489608" y="824424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53639AD-A96A-7CA2-0036-A1BAA1290669}"/>
              </a:ext>
            </a:extLst>
          </p:cNvPr>
          <p:cNvSpPr/>
          <p:nvPr/>
        </p:nvSpPr>
        <p:spPr>
          <a:xfrm>
            <a:off x="489608" y="3219565"/>
            <a:ext cx="3593122" cy="206763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>
              <a:solidFill>
                <a:srgbClr val="00FFFF"/>
              </a:solidFill>
            </a:endParaRP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실시간 용어 사전</a:t>
            </a:r>
            <a:endParaRPr lang="en-US" altLang="ko-KR" sz="1500" b="1" dirty="0"/>
          </a:p>
          <a:p>
            <a:pPr algn="ctr"/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차트 위 전문 용어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(PER, MDD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등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를 </a:t>
            </a:r>
            <a:r>
              <a:rPr lang="ko-KR" altLang="en-US" sz="1100" dirty="0" err="1">
                <a:solidFill>
                  <a:schemeClr val="bg1">
                    <a:lumMod val="85000"/>
                  </a:schemeClr>
                </a:solidFill>
              </a:rPr>
              <a:t>입문자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 눈높이에서 즉시 설명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D75EA31-FE69-2EA8-E8BC-FEF3B750BEB3}"/>
              </a:ext>
            </a:extLst>
          </p:cNvPr>
          <p:cNvSpPr/>
          <p:nvPr/>
        </p:nvSpPr>
        <p:spPr>
          <a:xfrm>
            <a:off x="4299438" y="3219565"/>
            <a:ext cx="3593122" cy="206763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>
              <a:solidFill>
                <a:srgbClr val="00FFFF"/>
              </a:solidFill>
            </a:endParaRP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지능형 가이드</a:t>
            </a:r>
            <a:endParaRPr lang="en-US" altLang="ko-KR" sz="1500" b="1" dirty="0"/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현재 하락장입니다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과거 유사 시점에는 분산 투자가 유리했습니다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.”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힌트 제공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7460EE-D3ED-2245-0DC4-267E136A3EBC}"/>
              </a:ext>
            </a:extLst>
          </p:cNvPr>
          <p:cNvSpPr/>
          <p:nvPr/>
        </p:nvSpPr>
        <p:spPr>
          <a:xfrm>
            <a:off x="8109268" y="3219565"/>
            <a:ext cx="3593122" cy="2067636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>
              <a:solidFill>
                <a:srgbClr val="00FFFF"/>
              </a:solidFill>
            </a:endParaRPr>
          </a:p>
          <a:p>
            <a:pPr algn="ctr"/>
            <a:endParaRPr lang="en-US" altLang="ko-KR" sz="1000" dirty="0"/>
          </a:p>
          <a:p>
            <a:pPr algn="ctr"/>
            <a:r>
              <a:rPr lang="ko-KR" altLang="en-US" sz="1500" b="1" dirty="0"/>
              <a:t>단계별 미션</a:t>
            </a:r>
            <a:endParaRPr lang="en-US" altLang="ko-KR" sz="1500" b="1" dirty="0"/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“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하락장에서 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MDD 10% 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이내로 방어하기</a:t>
            </a:r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＂</a:t>
            </a:r>
            <a:r>
              <a:rPr lang="ko-KR" altLang="en-US" sz="1100" dirty="0">
                <a:solidFill>
                  <a:schemeClr val="bg1">
                    <a:lumMod val="85000"/>
                  </a:schemeClr>
                </a:solidFill>
              </a:rPr>
              <a:t>등 목표 기반의 학습 유도</a:t>
            </a:r>
          </a:p>
        </p:txBody>
      </p:sp>
      <p:pic>
        <p:nvPicPr>
          <p:cNvPr id="12" name="그래픽 11" descr="연구 단색으로 채워진">
            <a:extLst>
              <a:ext uri="{FF2B5EF4-FFF2-40B4-BE49-F238E27FC236}">
                <a16:creationId xmlns:a16="http://schemas.microsoft.com/office/drawing/2014/main" id="{635C1EB4-F38C-523A-CA3D-3777D8CB84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4770" y="3490415"/>
            <a:ext cx="562800" cy="562800"/>
          </a:xfrm>
          <a:prstGeom prst="rect">
            <a:avLst/>
          </a:prstGeom>
        </p:spPr>
      </p:pic>
      <p:pic>
        <p:nvPicPr>
          <p:cNvPr id="14" name="그래픽 13" descr="전구 단색으로 채워진">
            <a:extLst>
              <a:ext uri="{FF2B5EF4-FFF2-40B4-BE49-F238E27FC236}">
                <a16:creationId xmlns:a16="http://schemas.microsoft.com/office/drawing/2014/main" id="{1C35A469-8C75-4CCE-611F-0FEE97D393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3946" y="3489108"/>
            <a:ext cx="564107" cy="564107"/>
          </a:xfrm>
          <a:prstGeom prst="rect">
            <a:avLst/>
          </a:prstGeom>
        </p:spPr>
      </p:pic>
      <p:pic>
        <p:nvPicPr>
          <p:cNvPr id="16" name="그래픽 15" descr="가로 막대형 차트 단색으로 채워진">
            <a:extLst>
              <a:ext uri="{FF2B5EF4-FFF2-40B4-BE49-F238E27FC236}">
                <a16:creationId xmlns:a16="http://schemas.microsoft.com/office/drawing/2014/main" id="{7B530E64-B89D-E57B-DB4C-0C354FF46D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67393" y="3452544"/>
            <a:ext cx="676871" cy="67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0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8949AC-D3FB-8AEB-F255-BF59BA71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>
            <a:extLst>
              <a:ext uri="{FF2B5EF4-FFF2-40B4-BE49-F238E27FC236}">
                <a16:creationId xmlns:a16="http://schemas.microsoft.com/office/drawing/2014/main" id="{71D08E27-4293-59F7-D9A9-2EDB88D4381E}"/>
              </a:ext>
            </a:extLst>
          </p:cNvPr>
          <p:cNvSpPr txBox="1">
            <a:spLocks/>
          </p:cNvSpPr>
          <p:nvPr/>
        </p:nvSpPr>
        <p:spPr>
          <a:xfrm>
            <a:off x="648542" y="824424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시스템 구현 기술 스택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BB106E-1B7C-3599-A2C5-3C479F0FE835}"/>
              </a:ext>
            </a:extLst>
          </p:cNvPr>
          <p:cNvSpPr/>
          <p:nvPr/>
        </p:nvSpPr>
        <p:spPr>
          <a:xfrm flipH="1">
            <a:off x="489608" y="824424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A3E9C-E446-2DB6-5B3E-DD69E2DB39B3}"/>
              </a:ext>
            </a:extLst>
          </p:cNvPr>
          <p:cNvSpPr txBox="1"/>
          <p:nvPr/>
        </p:nvSpPr>
        <p:spPr>
          <a:xfrm>
            <a:off x="5646758" y="3230814"/>
            <a:ext cx="662287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solidFill>
                  <a:schemeClr val="bg1"/>
                </a:solidFill>
              </a:rPr>
              <a:t>    Data Intelligence: </a:t>
            </a:r>
            <a:r>
              <a:rPr lang="en-US" altLang="ko-KR" sz="1500" dirty="0" err="1">
                <a:solidFill>
                  <a:schemeClr val="bg1">
                    <a:lumMod val="85000"/>
                  </a:schemeClr>
                </a:solidFill>
              </a:rPr>
              <a:t>yfinance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 API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를 통한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30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년치 미국 증시 </a:t>
            </a:r>
            <a:r>
              <a:rPr lang="ko-KR" altLang="en-US" sz="1500" dirty="0" err="1">
                <a:solidFill>
                  <a:schemeClr val="bg1">
                    <a:lumMod val="85000"/>
                  </a:schemeClr>
                </a:solidFill>
              </a:rPr>
              <a:t>빅데이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   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터 처리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500" b="1" dirty="0">
              <a:solidFill>
                <a:schemeClr val="bg1"/>
              </a:solidFill>
            </a:endParaRPr>
          </a:p>
          <a:p>
            <a:r>
              <a:rPr lang="en-US" altLang="ko-KR" sz="1500" b="1" dirty="0">
                <a:solidFill>
                  <a:schemeClr val="bg1"/>
                </a:solidFill>
              </a:rPr>
              <a:t>    Robust Backend: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Spring Boot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를 활용한 견고한 매매 로직 및 데이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    터 관리</a:t>
            </a:r>
            <a:endParaRPr lang="en-US" altLang="ko-KR" sz="1500" dirty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500" dirty="0">
              <a:solidFill>
                <a:schemeClr val="bg1"/>
              </a:solidFill>
            </a:endParaRPr>
          </a:p>
          <a:p>
            <a:r>
              <a:rPr lang="en-US" altLang="ko-KR" sz="1500" b="1" dirty="0">
                <a:solidFill>
                  <a:schemeClr val="bg1"/>
                </a:solidFill>
              </a:rPr>
              <a:t>    Interactive</a:t>
            </a:r>
            <a:r>
              <a:rPr lang="ko-KR" altLang="en-US" sz="1500" b="1" dirty="0">
                <a:solidFill>
                  <a:schemeClr val="bg1"/>
                </a:solidFill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</a:rPr>
              <a:t>UI: </a:t>
            </a:r>
            <a:r>
              <a:rPr lang="en-US" altLang="ko-KR" sz="1500" dirty="0">
                <a:solidFill>
                  <a:schemeClr val="bg1">
                    <a:lumMod val="85000"/>
                  </a:schemeClr>
                </a:solidFill>
              </a:rPr>
              <a:t>React &amp; Chart.js 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기반의 </a:t>
            </a:r>
            <a:r>
              <a:rPr lang="ko-KR" altLang="en-US" sz="1500" dirty="0" err="1">
                <a:solidFill>
                  <a:schemeClr val="bg1">
                    <a:lumMod val="85000"/>
                  </a:schemeClr>
                </a:solidFill>
              </a:rPr>
              <a:t>입문자</a:t>
            </a:r>
            <a:r>
              <a:rPr lang="ko-KR" altLang="en-US" sz="1500" dirty="0">
                <a:solidFill>
                  <a:schemeClr val="bg1">
                    <a:lumMod val="85000"/>
                  </a:schemeClr>
                </a:solidFill>
              </a:rPr>
              <a:t> 친화적 대시보드</a:t>
            </a:r>
          </a:p>
        </p:txBody>
      </p:sp>
      <p:pic>
        <p:nvPicPr>
          <p:cNvPr id="11" name="그래픽 10" descr="웹 디자인 단색으로 채워진">
            <a:extLst>
              <a:ext uri="{FF2B5EF4-FFF2-40B4-BE49-F238E27FC236}">
                <a16:creationId xmlns:a16="http://schemas.microsoft.com/office/drawing/2014/main" id="{2DF95187-7EB1-8363-29F8-753BFFD71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6758" y="4644698"/>
            <a:ext cx="249365" cy="249365"/>
          </a:xfrm>
          <a:prstGeom prst="rect">
            <a:avLst/>
          </a:prstGeom>
        </p:spPr>
      </p:pic>
      <p:pic>
        <p:nvPicPr>
          <p:cNvPr id="13" name="그래픽 12" descr="웹 디자인 단색으로 채워진">
            <a:extLst>
              <a:ext uri="{FF2B5EF4-FFF2-40B4-BE49-F238E27FC236}">
                <a16:creationId xmlns:a16="http://schemas.microsoft.com/office/drawing/2014/main" id="{B65F57CF-7A7A-4DE1-3B96-6F848DCF7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6757" y="3278581"/>
            <a:ext cx="249365" cy="249365"/>
          </a:xfrm>
          <a:prstGeom prst="rect">
            <a:avLst/>
          </a:prstGeom>
        </p:spPr>
      </p:pic>
      <p:pic>
        <p:nvPicPr>
          <p:cNvPr id="18" name="그래픽 17" descr="데이터베이스 단색으로 채워진">
            <a:extLst>
              <a:ext uri="{FF2B5EF4-FFF2-40B4-BE49-F238E27FC236}">
                <a16:creationId xmlns:a16="http://schemas.microsoft.com/office/drawing/2014/main" id="{A59FA8B2-D1EA-705A-7D69-A026D0EB14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2784" y="3935674"/>
            <a:ext cx="317310" cy="317310"/>
          </a:xfrm>
          <a:prstGeom prst="rect">
            <a:avLst/>
          </a:prstGeom>
        </p:spPr>
      </p:pic>
      <p:pic>
        <p:nvPicPr>
          <p:cNvPr id="20" name="그림 19" descr="전자제품, 전자 공학, 회로, 전자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1190D7-CFDD-D8EE-4350-48AAA6F342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08" y="2408061"/>
            <a:ext cx="4827453" cy="341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22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34F51-CEC5-66A7-39C7-5A82043B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FD8D860-4744-F94E-AC78-70A9557A8DC3}"/>
              </a:ext>
            </a:extLst>
          </p:cNvPr>
          <p:cNvSpPr/>
          <p:nvPr/>
        </p:nvSpPr>
        <p:spPr>
          <a:xfrm>
            <a:off x="568608" y="2994393"/>
            <a:ext cx="5250184" cy="179614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3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51A18F5-7EFC-A3AE-7B5F-5A5E188280D6}"/>
              </a:ext>
            </a:extLst>
          </p:cNvPr>
          <p:cNvSpPr txBox="1">
            <a:spLocks/>
          </p:cNvSpPr>
          <p:nvPr/>
        </p:nvSpPr>
        <p:spPr>
          <a:xfrm>
            <a:off x="676925" y="809423"/>
            <a:ext cx="8096794" cy="782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ko-KR" altLang="en-US" sz="3500" b="1" dirty="0">
                <a:solidFill>
                  <a:schemeClr val="bg1"/>
                </a:solidFill>
              </a:rPr>
              <a:t>프로젝트 기대 효과</a:t>
            </a:r>
            <a:endParaRPr lang="ko-KR" altLang="en-US" sz="35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212382-DF74-9B4D-D482-A8CCB9E7DEA1}"/>
              </a:ext>
            </a:extLst>
          </p:cNvPr>
          <p:cNvSpPr/>
          <p:nvPr/>
        </p:nvSpPr>
        <p:spPr>
          <a:xfrm flipH="1">
            <a:off x="511459" y="809423"/>
            <a:ext cx="45719" cy="894805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5513137-378C-B451-172A-0D55ED5DA23E}"/>
              </a:ext>
            </a:extLst>
          </p:cNvPr>
          <p:cNvSpPr/>
          <p:nvPr/>
        </p:nvSpPr>
        <p:spPr>
          <a:xfrm>
            <a:off x="557178" y="2911800"/>
            <a:ext cx="5273045" cy="179614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dirty="0">
                <a:solidFill>
                  <a:srgbClr val="00FFFF"/>
                </a:solidFill>
              </a:rPr>
              <a:t>투자 문해력 증진</a:t>
            </a:r>
            <a:endParaRPr lang="en-US" altLang="ko-KR" sz="1300" b="1" dirty="0">
              <a:solidFill>
                <a:srgbClr val="00FFFF"/>
              </a:solidFill>
            </a:endParaRPr>
          </a:p>
          <a:p>
            <a:endParaRPr lang="en-US" altLang="ko-KR" sz="1300" b="1" dirty="0"/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단순 수익률이 아닌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시장의 흐림과 리스크를 스스로 분석할 수 있는 능력을 배양합니다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B899686-82F6-CA6A-FDDC-24406721545F}"/>
              </a:ext>
            </a:extLst>
          </p:cNvPr>
          <p:cNvSpPr/>
          <p:nvPr/>
        </p:nvSpPr>
        <p:spPr>
          <a:xfrm>
            <a:off x="6266191" y="2994393"/>
            <a:ext cx="5250184" cy="1796142"/>
          </a:xfrm>
          <a:prstGeom prst="round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3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1954300-72F2-DC06-4692-69F847CE41EB}"/>
              </a:ext>
            </a:extLst>
          </p:cNvPr>
          <p:cNvSpPr/>
          <p:nvPr/>
        </p:nvSpPr>
        <p:spPr>
          <a:xfrm>
            <a:off x="6254761" y="2911800"/>
            <a:ext cx="5273045" cy="179614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300" b="1" dirty="0">
                <a:solidFill>
                  <a:srgbClr val="00FFFF"/>
                </a:solidFill>
              </a:rPr>
              <a:t>안전한 시장 진입</a:t>
            </a:r>
            <a:endParaRPr lang="en-US" altLang="ko-KR" sz="1300" b="1" dirty="0">
              <a:solidFill>
                <a:srgbClr val="00FFFF"/>
              </a:solidFill>
            </a:endParaRPr>
          </a:p>
          <a:p>
            <a:endParaRPr lang="en-US" altLang="ko-KR" sz="1300" b="1" dirty="0"/>
          </a:p>
          <a:p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가상 시뮬레이션을 통해 충분한 경험을 쌓아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실전 투자에서의 치명적인 실수를 방지합니다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DAC1D0-4242-6D44-0E98-2F8138E6D188}"/>
              </a:ext>
            </a:extLst>
          </p:cNvPr>
          <p:cNvSpPr txBox="1"/>
          <p:nvPr/>
        </p:nvSpPr>
        <p:spPr>
          <a:xfrm>
            <a:off x="3569347" y="5047966"/>
            <a:ext cx="5053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00FFFF"/>
                </a:solidFill>
              </a:rPr>
              <a:t>“Smart Education for Safer Investment”</a:t>
            </a:r>
            <a:endParaRPr lang="ko-KR" altLang="en-US" sz="2000" b="1" dirty="0">
              <a:solidFill>
                <a:srgbClr val="00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611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348</Words>
  <Application>Microsoft Office PowerPoint</Application>
  <PresentationFormat>와이드스크린</PresentationFormat>
  <Paragraphs>77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 US Stock Market Time Machine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1</cp:revision>
  <dcterms:created xsi:type="dcterms:W3CDTF">2026-01-15T17:28:36Z</dcterms:created>
  <dcterms:modified xsi:type="dcterms:W3CDTF">2026-01-15T18:26:38Z</dcterms:modified>
</cp:coreProperties>
</file>